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2" r:id="rId2"/>
    <p:sldId id="257" r:id="rId3"/>
    <p:sldId id="258" r:id="rId4"/>
    <p:sldId id="259" r:id="rId5"/>
    <p:sldId id="260" r:id="rId6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F3781DA-79D6-4265-B3BE-6CDAB8CB80F7}" v="1" dt="2026-07-24T08:55:27.3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59" d="100"/>
          <a:sy n="59" d="100"/>
        </p:scale>
        <p:origin x="112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krishik207@gmail.com" userId="841b78bfeee625b5" providerId="LiveId" clId="{EB69D51D-3399-4897-AED6-81ED8B39BED5}"/>
    <pc:docChg chg="undo custSel modSld">
      <pc:chgData name="Jkrishik207@gmail.com" userId="841b78bfeee625b5" providerId="LiveId" clId="{EB69D51D-3399-4897-AED6-81ED8B39BED5}" dt="2026-07-24T08:55:56.640" v="16" actId="20577"/>
      <pc:docMkLst>
        <pc:docMk/>
      </pc:docMkLst>
      <pc:sldChg chg="modSp mod">
        <pc:chgData name="Jkrishik207@gmail.com" userId="841b78bfeee625b5" providerId="LiveId" clId="{EB69D51D-3399-4897-AED6-81ED8B39BED5}" dt="2026-07-24T08:55:56.640" v="16" actId="20577"/>
        <pc:sldMkLst>
          <pc:docMk/>
          <pc:sldMk cId="0" sldId="272"/>
        </pc:sldMkLst>
        <pc:spChg chg="mod">
          <ac:chgData name="Jkrishik207@gmail.com" userId="841b78bfeee625b5" providerId="LiveId" clId="{EB69D51D-3399-4897-AED6-81ED8B39BED5}" dt="2026-07-24T08:55:56.640" v="16" actId="20577"/>
          <ac:spMkLst>
            <pc:docMk/>
            <pc:sldMk cId="0" sldId="272"/>
            <ac:spMk id="5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44425" y="268386"/>
            <a:ext cx="7503148" cy="9036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64747" y="1561353"/>
            <a:ext cx="10824845" cy="25419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329491" y="6466777"/>
            <a:ext cx="217804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63642" y="4279861"/>
            <a:ext cx="5029200" cy="2195473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130810">
              <a:lnSpc>
                <a:spcPct val="100000"/>
              </a:lnSpc>
              <a:spcBef>
                <a:spcPts val="620"/>
              </a:spcBef>
            </a:pPr>
            <a:endParaRPr lang="en-IN" sz="2400" b="1" dirty="0">
              <a:solidFill>
                <a:srgbClr val="0C0C0C"/>
              </a:solidFill>
              <a:latin typeface="Times New Roman"/>
              <a:cs typeface="Times New Roman"/>
            </a:endParaRPr>
          </a:p>
          <a:p>
            <a:pPr marL="130810" algn="l">
              <a:lnSpc>
                <a:spcPct val="100000"/>
              </a:lnSpc>
              <a:spcBef>
                <a:spcPts val="620"/>
              </a:spcBef>
            </a:pPr>
            <a:r>
              <a:rPr lang="en-IN" sz="2400" b="1" dirty="0">
                <a:solidFill>
                  <a:srgbClr val="0C0C0C"/>
                </a:solidFill>
                <a:latin typeface="Times New Roman"/>
                <a:cs typeface="Times New Roman"/>
              </a:rPr>
              <a:t>             </a:t>
            </a:r>
            <a:r>
              <a:rPr sz="2400" b="1" dirty="0">
                <a:solidFill>
                  <a:srgbClr val="0C0C0C"/>
                </a:solidFill>
                <a:latin typeface="Times New Roman"/>
                <a:cs typeface="Times New Roman"/>
              </a:rPr>
              <a:t>Presented</a:t>
            </a:r>
            <a:r>
              <a:rPr sz="2400" b="1" spc="-4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400" b="1" spc="-25" dirty="0">
                <a:solidFill>
                  <a:srgbClr val="0C0C0C"/>
                </a:solidFill>
                <a:latin typeface="Times New Roman"/>
                <a:cs typeface="Times New Roman"/>
              </a:rPr>
              <a:t>by:</a:t>
            </a:r>
            <a:endParaRPr sz="2400" dirty="0">
              <a:latin typeface="Times New Roman"/>
              <a:cs typeface="Times New Roman"/>
            </a:endParaRPr>
          </a:p>
          <a:p>
            <a:pPr marL="12700" algn="l">
              <a:lnSpc>
                <a:spcPct val="100000"/>
              </a:lnSpc>
              <a:spcBef>
                <a:spcPts val="520"/>
              </a:spcBef>
            </a:pPr>
            <a:r>
              <a:rPr lang="en-IN" sz="2400" dirty="0">
                <a:solidFill>
                  <a:srgbClr val="0C0C0C"/>
                </a:solidFill>
                <a:latin typeface="Times New Roman"/>
                <a:cs typeface="Times New Roman"/>
              </a:rPr>
              <a:t>         RISHIK JK (192511052)</a:t>
            </a:r>
          </a:p>
          <a:p>
            <a:pPr marL="12700" algn="l">
              <a:lnSpc>
                <a:spcPct val="100000"/>
              </a:lnSpc>
              <a:spcBef>
                <a:spcPts val="520"/>
              </a:spcBef>
            </a:pPr>
            <a:r>
              <a:rPr lang="en-IN" sz="2400" dirty="0">
                <a:solidFill>
                  <a:srgbClr val="0C0C0C"/>
                </a:solidFill>
                <a:latin typeface="Times New Roman"/>
                <a:cs typeface="Times New Roman"/>
              </a:rPr>
              <a:t>                 B.E.CSE</a:t>
            </a:r>
          </a:p>
          <a:p>
            <a:pPr marL="12700">
              <a:lnSpc>
                <a:spcPct val="100000"/>
              </a:lnSpc>
              <a:spcBef>
                <a:spcPts val="520"/>
              </a:spcBef>
            </a:pPr>
            <a:endParaRPr sz="2400" dirty="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975" y="924"/>
            <a:ext cx="1135116" cy="134288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41912" y="178568"/>
            <a:ext cx="1520113" cy="134288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190500" y="2010633"/>
            <a:ext cx="11811000" cy="2366674"/>
          </a:xfrm>
          <a:prstGeom prst="rect">
            <a:avLst/>
          </a:prstGeom>
        </p:spPr>
        <p:txBody>
          <a:bodyPr vert="horz" wrap="square" lIns="0" tIns="133985" rIns="0" bIns="0" rtlCol="0">
            <a:spAutoFit/>
          </a:bodyPr>
          <a:lstStyle/>
          <a:p>
            <a:pPr marR="376555" algn="ctr">
              <a:lnSpc>
                <a:spcPct val="100000"/>
              </a:lnSpc>
              <a:spcBef>
                <a:spcPts val="1055"/>
              </a:spcBef>
            </a:pPr>
            <a:r>
              <a:rPr lang="en-IN" b="1" spc="-10" dirty="0"/>
              <a:t>Technical Presentation </a:t>
            </a:r>
          </a:p>
          <a:p>
            <a:pPr marR="376555" algn="ctr">
              <a:lnSpc>
                <a:spcPct val="100000"/>
              </a:lnSpc>
              <a:spcBef>
                <a:spcPts val="1055"/>
              </a:spcBef>
            </a:pPr>
            <a:endParaRPr lang="en-IN" b="1" spc="-10" dirty="0"/>
          </a:p>
          <a:p>
            <a:pPr marL="635" algn="ctr">
              <a:lnSpc>
                <a:spcPct val="100000"/>
              </a:lnSpc>
              <a:tabLst>
                <a:tab pos="1053465" algn="l"/>
              </a:tabLst>
            </a:pPr>
            <a:r>
              <a:rPr lang="en-IN" b="1" dirty="0"/>
              <a:t>29.Database Indexing using B-Tree</a:t>
            </a:r>
          </a:p>
          <a:p>
            <a:pPr marL="635" algn="ctr">
              <a:lnSpc>
                <a:spcPct val="100000"/>
              </a:lnSpc>
              <a:tabLst>
                <a:tab pos="1053465" algn="l"/>
              </a:tabLst>
            </a:pPr>
            <a:endParaRPr b="1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50"/>
              </a:spcBef>
            </a:pPr>
            <a:r>
              <a:rPr lang="en-IN" sz="2300" b="1" spc="60" dirty="0"/>
              <a:t>CSA0310</a:t>
            </a:r>
            <a:r>
              <a:rPr sz="2300" b="1" spc="60" dirty="0">
                <a:latin typeface="Times New Roman"/>
                <a:cs typeface="Times New Roman"/>
              </a:rPr>
              <a:t> </a:t>
            </a:r>
            <a:r>
              <a:rPr lang="en-IN" sz="2300" b="1" dirty="0">
                <a:latin typeface="Times New Roman"/>
                <a:cs typeface="Times New Roman"/>
              </a:rPr>
              <a:t>–</a:t>
            </a:r>
            <a:r>
              <a:rPr sz="2300" b="1" spc="65" dirty="0">
                <a:latin typeface="Times New Roman"/>
                <a:cs typeface="Times New Roman"/>
              </a:rPr>
              <a:t> </a:t>
            </a:r>
            <a:r>
              <a:rPr lang="en-IN" sz="2300" b="1" spc="65" dirty="0"/>
              <a:t>DATA STRUCTURE</a:t>
            </a:r>
            <a:endParaRPr sz="2300" b="1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863642" y="397890"/>
            <a:ext cx="404304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/>
              <a:t>SIMATS</a:t>
            </a:r>
            <a:r>
              <a:rPr sz="2800" spc="-145" dirty="0"/>
              <a:t> </a:t>
            </a:r>
            <a:r>
              <a:rPr sz="2800" spc="-10" dirty="0"/>
              <a:t>ENGINEERING</a:t>
            </a:r>
            <a:endParaRPr sz="2800" dirty="0"/>
          </a:p>
        </p:txBody>
      </p:sp>
      <p:sp>
        <p:nvSpPr>
          <p:cNvPr id="8" name="object 8"/>
          <p:cNvSpPr txBox="1"/>
          <p:nvPr/>
        </p:nvSpPr>
        <p:spPr>
          <a:xfrm>
            <a:off x="2133600" y="1169968"/>
            <a:ext cx="8153401" cy="419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58240" marR="5080" indent="-1146175">
              <a:lnSpc>
                <a:spcPct val="150000"/>
              </a:lnSpc>
              <a:spcBef>
                <a:spcPts val="100"/>
              </a:spcBef>
            </a:pPr>
            <a:r>
              <a:rPr sz="2000" b="1" spc="-10" dirty="0">
                <a:latin typeface="Times New Roman"/>
                <a:cs typeface="Times New Roman"/>
              </a:rPr>
              <a:t>SAVEETHA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INSTITUTE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MEDICAL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AND </a:t>
            </a:r>
            <a:r>
              <a:rPr sz="2000" b="1" spc="-10" dirty="0">
                <a:latin typeface="Times New Roman"/>
                <a:cs typeface="Times New Roman"/>
              </a:rPr>
              <a:t>TECHNICAL</a:t>
            </a:r>
            <a:r>
              <a:rPr sz="2000" b="1" spc="-8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SCIENCES</a:t>
            </a:r>
            <a:endParaRPr sz="2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44425" y="268386"/>
            <a:ext cx="7503148" cy="813200"/>
          </a:xfrm>
          <a:prstGeom prst="rect">
            <a:avLst/>
          </a:prstGeom>
        </p:spPr>
        <p:txBody>
          <a:bodyPr vert="horz" wrap="square" lIns="0" tIns="317655" rIns="0" bIns="0" rtlCol="0">
            <a:spAutoFit/>
          </a:bodyPr>
          <a:lstStyle/>
          <a:p>
            <a:pPr marL="2644775">
              <a:lnSpc>
                <a:spcPct val="100000"/>
              </a:lnSpc>
              <a:spcBef>
                <a:spcPts val="100"/>
              </a:spcBef>
            </a:pPr>
            <a:r>
              <a:rPr lang="en-IN" dirty="0"/>
              <a:t>Problem Statement</a:t>
            </a:r>
            <a:r>
              <a:rPr lang="en-IN" spc="-10" dirty="0"/>
              <a:t> </a:t>
            </a:r>
            <a:endParaRPr spc="-1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657" y="3544"/>
            <a:ext cx="1135116" cy="134288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17459" y="36201"/>
            <a:ext cx="1520113" cy="134288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  <p:sp>
        <p:nvSpPr>
          <p:cNvPr id="7" name="TextBox 6"/>
          <p:cNvSpPr txBox="1"/>
          <p:nvPr/>
        </p:nvSpPr>
        <p:spPr>
          <a:xfrm>
            <a:off x="644705" y="1357313"/>
            <a:ext cx="11166295" cy="62584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dirty="0"/>
              <a:t>A database indexing system requires:</a:t>
            </a:r>
          </a:p>
          <a:p>
            <a:pPr>
              <a:lnSpc>
                <a:spcPct val="150000"/>
              </a:lnSpc>
            </a:pPr>
            <a:r>
              <a:rPr lang="en-IN" sz="2400" dirty="0"/>
              <a:t>    🔹 Fast searching of records </a:t>
            </a:r>
          </a:p>
          <a:p>
            <a:pPr>
              <a:lnSpc>
                <a:spcPct val="150000"/>
              </a:lnSpc>
            </a:pPr>
            <a:r>
              <a:rPr lang="en-IN" sz="2400" dirty="0"/>
              <a:t>    🔹 Fast insertion of new data </a:t>
            </a:r>
          </a:p>
          <a:p>
            <a:pPr>
              <a:lnSpc>
                <a:spcPct val="150000"/>
              </a:lnSpc>
            </a:pPr>
            <a:r>
              <a:rPr lang="en-IN" sz="2400" dirty="0"/>
              <a:t>    🔹 Fast deletion of existing data </a:t>
            </a:r>
          </a:p>
          <a:p>
            <a:pPr>
              <a:lnSpc>
                <a:spcPct val="150000"/>
              </a:lnSpc>
            </a:pPr>
            <a:r>
              <a:rPr lang="en-IN" sz="2400" dirty="0"/>
              <a:t>    🔹 Efficient use of disk storage </a:t>
            </a:r>
          </a:p>
          <a:p>
            <a:pPr>
              <a:lnSpc>
                <a:spcPct val="150000"/>
              </a:lnSpc>
            </a:pPr>
            <a:r>
              <a:rPr lang="en-IN" sz="2400" dirty="0"/>
              <a:t>    🔹 High performance for large databases</a:t>
            </a:r>
          </a:p>
          <a:p>
            <a:pPr>
              <a:lnSpc>
                <a:spcPct val="150000"/>
              </a:lnSpc>
            </a:pPr>
            <a:r>
              <a:rPr lang="en-IN" sz="2400" b="1" dirty="0"/>
              <a:t>Challenge:</a:t>
            </a:r>
            <a:br>
              <a:rPr lang="en-IN" sz="2400" dirty="0"/>
            </a:br>
            <a:r>
              <a:rPr lang="en-IN" sz="2400" dirty="0"/>
              <a:t>Traditional data structures may become slow when handling large databases. Therefore, an efficient tree data structure is required to maintain high performance.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2532032-384D-D39C-2ED4-74D8B8FE74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1095" y="1575009"/>
            <a:ext cx="3886200" cy="32575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92468" y="268386"/>
            <a:ext cx="8355105" cy="1305642"/>
          </a:xfrm>
          <a:prstGeom prst="rect">
            <a:avLst/>
          </a:prstGeom>
        </p:spPr>
        <p:txBody>
          <a:bodyPr vert="horz" wrap="square" lIns="0" tIns="317655" rIns="0" bIns="0" rtlCol="0">
            <a:spAutoFit/>
          </a:bodyPr>
          <a:lstStyle/>
          <a:p>
            <a:pPr marL="2464435">
              <a:lnSpc>
                <a:spcPct val="100000"/>
              </a:lnSpc>
              <a:spcBef>
                <a:spcPts val="100"/>
              </a:spcBef>
            </a:pPr>
            <a:r>
              <a:rPr lang="en-IN" dirty="0"/>
              <a:t>Recommended Data Structure: B-Tree</a:t>
            </a:r>
            <a:endParaRPr spc="-1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26"/>
            <a:ext cx="1135116" cy="134288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31" y="191626"/>
            <a:ext cx="1520113" cy="134288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  <p:sp>
        <p:nvSpPr>
          <p:cNvPr id="9" name="TextBox 8"/>
          <p:cNvSpPr txBox="1"/>
          <p:nvPr/>
        </p:nvSpPr>
        <p:spPr>
          <a:xfrm>
            <a:off x="666476" y="1815510"/>
            <a:ext cx="9601200" cy="50098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dirty="0"/>
              <a:t>What is a B-Tree?</a:t>
            </a:r>
          </a:p>
          <a:p>
            <a:pPr>
              <a:lnSpc>
                <a:spcPct val="150000"/>
              </a:lnSpc>
            </a:pPr>
            <a:r>
              <a:rPr lang="en-IN" sz="2400" dirty="0"/>
              <a:t>    A </a:t>
            </a:r>
            <a:r>
              <a:rPr lang="en-IN" sz="2400" b="1" dirty="0"/>
              <a:t>B-Tree</a:t>
            </a:r>
            <a:r>
              <a:rPr lang="en-IN" sz="2400" dirty="0"/>
              <a:t> is a </a:t>
            </a:r>
            <a:r>
              <a:rPr lang="en-IN" sz="2400" b="1" dirty="0"/>
              <a:t>self-balancing multi-way search tree</a:t>
            </a:r>
            <a:r>
              <a:rPr lang="en-IN" sz="2400" dirty="0"/>
              <a:t> designed for efficient data storage </a:t>
            </a:r>
          </a:p>
          <a:p>
            <a:pPr>
              <a:lnSpc>
                <a:spcPct val="150000"/>
              </a:lnSpc>
            </a:pPr>
            <a:r>
              <a:rPr lang="en-IN" sz="2400" b="1" dirty="0"/>
              <a:t>Key Features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Self-balancing structure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Stores multiple keys in a single node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Keeps data in sorted order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Reduces the height of the tree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 Minimizes disk access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44425" y="268386"/>
            <a:ext cx="7503148" cy="813200"/>
          </a:xfrm>
          <a:prstGeom prst="rect">
            <a:avLst/>
          </a:prstGeom>
        </p:spPr>
        <p:txBody>
          <a:bodyPr vert="horz" wrap="square" lIns="0" tIns="317655" rIns="0" bIns="0" rtlCol="0">
            <a:spAutoFit/>
          </a:bodyPr>
          <a:lstStyle/>
          <a:p>
            <a:pPr marL="1397635">
              <a:lnSpc>
                <a:spcPct val="100000"/>
              </a:lnSpc>
              <a:spcBef>
                <a:spcPts val="100"/>
              </a:spcBef>
            </a:pPr>
            <a:r>
              <a:rPr lang="en-IN" dirty="0"/>
              <a:t>Applications of Digital Filtering</a:t>
            </a:r>
            <a:endParaRPr spc="-1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26"/>
            <a:ext cx="1135116" cy="134288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31" y="191626"/>
            <a:ext cx="1520113" cy="134288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  <p:sp>
        <p:nvSpPr>
          <p:cNvPr id="9" name="TextBox 8"/>
          <p:cNvSpPr txBox="1"/>
          <p:nvPr/>
        </p:nvSpPr>
        <p:spPr>
          <a:xfrm>
            <a:off x="157656" y="1752600"/>
            <a:ext cx="8839200" cy="55659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IN" sz="2400" b="1" dirty="0"/>
              <a:t>Mobile Cameras</a:t>
            </a:r>
            <a:r>
              <a:rPr lang="en-IN" sz="2400" dirty="0"/>
              <a:t> – Improves photo quality and removes noise.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IN" sz="2400" b="1" dirty="0"/>
              <a:t>CCTV Surveillance</a:t>
            </a:r>
            <a:r>
              <a:rPr lang="en-IN" sz="2400" dirty="0"/>
              <a:t> – Enhances video clarity for better monitoring.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IN" sz="2400" b="1" dirty="0"/>
              <a:t>Medical Imaging</a:t>
            </a:r>
            <a:r>
              <a:rPr lang="en-IN" sz="2400" dirty="0"/>
              <a:t> – Improves X-ray, MRI, and CT scan images.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IN" sz="2400" b="1" dirty="0"/>
              <a:t>Satellite Imaging</a:t>
            </a:r>
            <a:r>
              <a:rPr lang="en-IN" sz="2400" dirty="0"/>
              <a:t> – Enhances Earth observation and weather images.</a:t>
            </a:r>
          </a:p>
          <a:p>
            <a:pPr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sz="2400" b="1" dirty="0"/>
              <a:t>Autonomous Vehicles</a:t>
            </a:r>
            <a:r>
              <a:rPr lang="en-IN" sz="2400" dirty="0"/>
              <a:t> – Helps cameras detect roads, objects, and obstacles.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8CAFDEF-7885-D128-0912-015711EDD8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3812"/>
            <a:ext cx="12192000" cy="6834188"/>
          </a:xfrm>
          <a:prstGeom prst="rect">
            <a:avLst/>
          </a:prstGeom>
        </p:spPr>
      </p:pic>
      <p:pic>
        <p:nvPicPr>
          <p:cNvPr id="13" name="object 3">
            <a:extLst>
              <a:ext uri="{FF2B5EF4-FFF2-40B4-BE49-F238E27FC236}">
                <a16:creationId xmlns:a16="http://schemas.microsoft.com/office/drawing/2014/main" id="{17498794-884D-8140-FBE9-3F6C7ACA838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3812"/>
            <a:ext cx="503182" cy="675708"/>
          </a:xfrm>
          <a:prstGeom prst="rect">
            <a:avLst/>
          </a:prstGeom>
        </p:spPr>
      </p:pic>
      <p:pic>
        <p:nvPicPr>
          <p:cNvPr id="15" name="object 4">
            <a:extLst>
              <a:ext uri="{FF2B5EF4-FFF2-40B4-BE49-F238E27FC236}">
                <a16:creationId xmlns:a16="http://schemas.microsoft.com/office/drawing/2014/main" id="{5AB352C5-4DD6-28F9-5D94-B26A293B066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547295" y="28079"/>
            <a:ext cx="672348" cy="67144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90700" y="111776"/>
            <a:ext cx="8610600" cy="813200"/>
          </a:xfrm>
          <a:prstGeom prst="rect">
            <a:avLst/>
          </a:prstGeom>
        </p:spPr>
        <p:txBody>
          <a:bodyPr vert="horz" wrap="square" lIns="0" tIns="317655" rIns="0" bIns="0" rtlCol="0">
            <a:spAutoFit/>
          </a:bodyPr>
          <a:lstStyle/>
          <a:p>
            <a:pPr marL="2049145">
              <a:lnSpc>
                <a:spcPct val="100000"/>
              </a:lnSpc>
              <a:spcBef>
                <a:spcPts val="100"/>
              </a:spcBef>
            </a:pPr>
            <a:r>
              <a:rPr lang="en-IN" dirty="0"/>
              <a:t>       Conclusion </a:t>
            </a:r>
            <a:endParaRPr spc="-1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561" y="72105"/>
            <a:ext cx="1135116" cy="134288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40326" y="42323"/>
            <a:ext cx="1520113" cy="134288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240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0" y="-323165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4C680C9-6DBA-BB83-E7E9-A26E558C5F85}"/>
              </a:ext>
            </a:extLst>
          </p:cNvPr>
          <p:cNvSpPr/>
          <p:nvPr/>
        </p:nvSpPr>
        <p:spPr>
          <a:xfrm>
            <a:off x="762000" y="5334000"/>
            <a:ext cx="9878326" cy="9906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81000" y="1382331"/>
            <a:ext cx="10437754" cy="50098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/>
              <a:t>B-Tree</a:t>
            </a:r>
            <a:r>
              <a:rPr lang="en-IN" sz="2400" dirty="0"/>
              <a:t> is the most suitable tree data structure for database indexing.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It provides </a:t>
            </a:r>
            <a:r>
              <a:rPr lang="en-IN" sz="2400" b="1" dirty="0"/>
              <a:t>fast searching, insertion, and deletion</a:t>
            </a:r>
            <a:r>
              <a:rPr lang="en-IN" sz="2400" dirty="0"/>
              <a:t> with </a:t>
            </a:r>
            <a:r>
              <a:rPr lang="en-IN" sz="2400" b="1" dirty="0"/>
              <a:t>O(log n)</a:t>
            </a:r>
            <a:r>
              <a:rPr lang="en-IN" sz="2400" dirty="0"/>
              <a:t> time complexity.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Its </a:t>
            </a:r>
            <a:r>
              <a:rPr lang="en-IN" sz="2400" b="1" dirty="0"/>
              <a:t>self-balancing structure</a:t>
            </a:r>
            <a:r>
              <a:rPr lang="en-IN" sz="2400" dirty="0"/>
              <a:t> ensures consistent performance.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It </a:t>
            </a:r>
            <a:r>
              <a:rPr lang="en-IN" sz="2400" b="1" dirty="0"/>
              <a:t>reduces disk access</a:t>
            </a:r>
            <a:r>
              <a:rPr lang="en-IN" sz="2400" dirty="0"/>
              <a:t>, making it ideal for large databases.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/>
              <a:t>Therefore, </a:t>
            </a:r>
            <a:r>
              <a:rPr lang="en-IN" sz="2400" b="1" dirty="0"/>
              <a:t>B-Tree is widely used in modern Database Management Systems (DBMS).</a:t>
            </a:r>
            <a:r>
              <a:rPr lang="en-IN" sz="2400" dirty="0"/>
              <a:t>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/>
              <a:t>“ 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B-Tree improves database performance by enabling efficient indexing, faster data retrieval, and optimized storage management</a:t>
            </a:r>
            <a:r>
              <a:rPr lang="en-IN" sz="2400" dirty="0"/>
              <a:t>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60</TotalTime>
  <Words>306</Words>
  <Application>Microsoft Office PowerPoint</Application>
  <PresentationFormat>Widescreen</PresentationFormat>
  <Paragraphs>45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Times New Roman</vt:lpstr>
      <vt:lpstr>Wingdings</vt:lpstr>
      <vt:lpstr>Office Theme</vt:lpstr>
      <vt:lpstr>SIMATS ENGINEERING</vt:lpstr>
      <vt:lpstr>Problem Statement </vt:lpstr>
      <vt:lpstr>Recommended Data Structure: B-Tree</vt:lpstr>
      <vt:lpstr>Applications of Digital Filtering</vt:lpstr>
      <vt:lpstr>       Conclusion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surithika Jk</dc:creator>
  <cp:lastModifiedBy>Jkrishik207@gmail.com</cp:lastModifiedBy>
  <cp:revision>4</cp:revision>
  <dcterms:created xsi:type="dcterms:W3CDTF">2026-06-05T17:09:00Z</dcterms:created>
  <dcterms:modified xsi:type="dcterms:W3CDTF">2026-07-24T08:56:22Z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2026-06-05T05:30:00Z</vt:filetime>
  </property>
  <property fmtid="{D5CDD505-2E9C-101B-9397-08002B2CF9AE}" pid="3" name="Creator">
    <vt:lpwstr>Google</vt:lpwstr>
  </property>
  <property fmtid="{D5CDD505-2E9C-101B-9397-08002B2CF9AE}" pid="4" name="LastSaved">
    <vt:filetime>2026-06-05T05:30:00Z</vt:filetime>
  </property>
  <property fmtid="{D5CDD505-2E9C-101B-9397-08002B2CF9AE}" pid="5" name="KSOProductBuildVer">
    <vt:lpwstr>1033-12.1.0.26372</vt:lpwstr>
  </property>
  <property fmtid="{D5CDD505-2E9C-101B-9397-08002B2CF9AE}" pid="6" name="ICV">
    <vt:lpwstr>EB4F751D23304626AEFAFFB0D3F12C07_13</vt:lpwstr>
  </property>
</Properties>
</file>